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68" r:id="rId5"/>
    <p:sldId id="259" r:id="rId6"/>
    <p:sldId id="260" r:id="rId7"/>
    <p:sldId id="277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61" r:id="rId16"/>
    <p:sldId id="262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 SYSTEM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ILU/CosNaming 的核心，是用名字把分布式对象连接起来。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03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2238375"/>
            <a:ext cx="2667000" cy="1524000"/>
          </a:xfrm>
          <a:prstGeom prst="roundRect">
            <a:avLst>
              <a:gd name="adj" fmla="val 2500"/>
            </a:avLst>
          </a:prstGeom>
          <a:solidFill>
            <a:srgbClr val="E1EFE8"/>
          </a:solidFill>
          <a:ln w="9525">
            <a:solidFill>
              <a:srgbClr val="C9C1B4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238375"/>
            <a:ext cx="57150" cy="15240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371725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服务端对象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714625"/>
            <a:ext cx="2362200" cy="971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 hello-world server.exe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对外暴露 hello_world 方法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24250" y="2971800"/>
            <a:ext cx="819150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24350" y="291465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619625" y="2238375"/>
            <a:ext cx="2667000" cy="1524000"/>
          </a:xfrm>
          <a:prstGeom prst="roundRect">
            <a:avLst>
              <a:gd name="adj" fmla="val 2500"/>
            </a:avLst>
          </a:prstGeom>
          <a:solidFill>
            <a:srgbClr val="DCEBF2"/>
          </a:solidFill>
          <a:ln w="9525">
            <a:solidFill>
              <a:srgbClr val="C9C1B4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19625" y="2238375"/>
            <a:ext cx="57150" cy="1524000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91075" y="2371725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SBH / IOR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91075" y="2714625"/>
            <a:ext cx="2362200" cy="971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系统中的对象地址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可被客户端或命名服务保存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381875" y="2971800"/>
            <a:ext cx="819150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81975" y="291465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477250" y="2238375"/>
            <a:ext cx="2667000" cy="152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77250" y="2238375"/>
            <a:ext cx="57150" cy="1524000"/>
          </a:xfrm>
          <a:prstGeom prst="rect">
            <a:avLst/>
          </a:prstGeom>
          <a:solidFill>
            <a:srgbClr val="B8543A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648700" y="2371725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客户端调用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648700" y="2714625"/>
            <a:ext cx="2362200" cy="971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client.exe 根据 SBH 连接服务端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并返回 Hello! 消息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52500" y="4476750"/>
            <a:ext cx="10096500" cy="781050"/>
          </a:xfrm>
          <a:prstGeom prst="roundRect">
            <a:avLst>
              <a:gd name="adj" fmla="val 4878"/>
            </a:avLst>
          </a:prstGeom>
          <a:solidFill>
            <a:srgbClr val="F0EADF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62050" y="4667250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SBH/IOR 可以理解成 ILU 世界里的“服务地址名片”；CosNaming 则负责把这些地址按名称管理起来。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5" y="139700"/>
            <a:ext cx="11863070" cy="5937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90" y="1289685"/>
            <a:ext cx="11459845" cy="6445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4318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MODERNIZATION GOAL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04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23950" y="9779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B85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5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改造前</a:t>
            </a:r>
            <a:endParaRPr sz="1650" b="1">
              <a:solidFill>
                <a:srgbClr val="B85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28700" y="1416050"/>
            <a:ext cx="3810000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28700" y="1416050"/>
            <a:ext cx="57150" cy="1809750"/>
          </a:xfrm>
          <a:prstGeom prst="rect">
            <a:avLst/>
          </a:prstGeom>
          <a:solidFill>
            <a:srgbClr val="B8543A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00150" y="1549400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客户端直接依赖 ILU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00150" y="1892300"/>
            <a:ext cx="350520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调用方必须理解 SBH/IOR、运行时和接口生成代码。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48450" y="9779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67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7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改造后</a:t>
            </a:r>
            <a:endParaRPr sz="1650" b="1">
              <a:solidFill>
                <a:srgbClr val="167C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53200" y="1416050"/>
            <a:ext cx="3810000" cy="1809750"/>
          </a:xfrm>
          <a:prstGeom prst="roundRect">
            <a:avLst>
              <a:gd name="adj" fmla="val 2105"/>
            </a:avLst>
          </a:prstGeom>
          <a:solidFill>
            <a:srgbClr val="E1EFE8"/>
          </a:solidFill>
          <a:ln w="9525">
            <a:solidFill>
              <a:srgbClr val="C9C1B4"/>
            </a:solidFill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553200" y="1416050"/>
            <a:ext cx="57150" cy="18097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724650" y="1549400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客户端只调用 gRPC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724650" y="1892300"/>
            <a:ext cx="350520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Registry 和 Gateway 负责发现服务、路由调用、适配 ILU。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124450" y="2254250"/>
            <a:ext cx="1009650" cy="28575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115050" y="2197100"/>
            <a:ext cx="133350" cy="133350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914900" y="1670685"/>
            <a:ext cx="1524000" cy="419100"/>
          </a:xfrm>
          <a:prstGeom prst="roundRect">
            <a:avLst>
              <a:gd name="adj" fmla="val 13636"/>
            </a:avLst>
          </a:prstGeom>
          <a:solidFill>
            <a:srgbClr val="D49A2A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69840" y="1765935"/>
            <a:ext cx="121920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4412"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兼容优先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5850" y="3378200"/>
            <a:ext cx="1067943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构建方式</a:t>
            </a:r>
            <a:br>
              <a:rPr lang="zh-CN" altLang="en-US" sz="1600" b="1"/>
            </a:br>
            <a:r>
              <a:rPr lang="zh-CN" altLang="en-US" sz="1600" b="1"/>
              <a:t>它是 </a:t>
            </a:r>
            <a:r>
              <a:rPr lang="en-US" altLang="zh-CN" sz="1600" b="1"/>
              <a:t>VC6 / Win32 </a:t>
            </a:r>
            <a:r>
              <a:rPr lang="zh-CN" altLang="en-US" sz="1600" b="1"/>
              <a:t>时代的工程：</a:t>
            </a:r>
            <a:r>
              <a:rPr lang="en-US" altLang="zh-CN" sz="1600" b="1"/>
              <a:t>.dsw / .dsp / .mak / nmake / cl.exe</a:t>
            </a:r>
            <a:br>
              <a:rPr lang="en-US" altLang="zh-CN" sz="1600" b="1"/>
            </a:br>
            <a:r>
              <a:rPr lang="zh-CN" altLang="en-US" sz="1600" b="1"/>
              <a:t>现在比较流行：</a:t>
            </a:r>
            <a:r>
              <a:rPr lang="en-US" altLang="zh-CN" sz="1600" b="1"/>
              <a:t>CMake / Maven / Gradle / npm / pip / Go modules / Docker</a:t>
            </a:r>
            <a:endParaRPr lang="en-US" altLang="zh-CN" sz="1600" b="1"/>
          </a:p>
          <a:p>
            <a:br>
              <a:rPr lang="en-US" altLang="zh-CN" sz="1600" b="1"/>
            </a:br>
            <a:r>
              <a:rPr lang="zh-CN" altLang="en-US" sz="1600" b="1"/>
              <a:t>运行依赖</a:t>
            </a:r>
            <a:br>
              <a:rPr lang="zh-CN" altLang="en-US" sz="1600" b="1"/>
            </a:br>
            <a:r>
              <a:rPr lang="zh-CN" altLang="en-US" sz="1600" b="1"/>
              <a:t>依赖 </a:t>
            </a:r>
            <a:r>
              <a:rPr lang="en-US" altLang="zh-CN" sz="1600" b="1"/>
              <a:t>ILU </a:t>
            </a:r>
            <a:r>
              <a:rPr lang="zh-CN" altLang="en-US" sz="1600" b="1"/>
              <a:t>自己的一套运行库：</a:t>
            </a:r>
            <a:r>
              <a:rPr lang="en-US" altLang="zh-CN" sz="1600" b="1"/>
              <a:t>ilu32.dll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iluc32.dll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parser32.dll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zh-CN" altLang="en-US" sz="1600" b="1"/>
              <a:t> </a:t>
            </a:r>
            <a:r>
              <a:rPr lang="en-US" altLang="zh-CN" sz="1600" b="1"/>
              <a:t>Java / Python / Lisp </a:t>
            </a:r>
            <a:r>
              <a:rPr lang="zh-CN" altLang="en-US" sz="1600" b="1"/>
              <a:t>支持库</a:t>
            </a:r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协议和生态</a:t>
            </a:r>
            <a:br>
              <a:rPr lang="zh-CN" altLang="en-US" sz="1600" b="1"/>
            </a:br>
            <a:r>
              <a:rPr lang="zh-CN" altLang="en-US" sz="1600" b="1"/>
              <a:t>它用的是 </a:t>
            </a:r>
            <a:r>
              <a:rPr lang="en-US" altLang="zh-CN" sz="1600" b="1"/>
              <a:t>ILU / CORBA / IIOP / SBH / IOR </a:t>
            </a:r>
            <a:r>
              <a:rPr lang="zh-CN" altLang="en-US" sz="1600" b="1"/>
              <a:t>这一套</a:t>
            </a:r>
            <a:br>
              <a:rPr lang="zh-CN" altLang="en-US" sz="1600" b="1"/>
            </a:br>
            <a:r>
              <a:rPr lang="zh-CN" altLang="en-US" sz="1600" b="1"/>
              <a:t>现在流行于：</a:t>
            </a:r>
            <a:r>
              <a:rPr lang="en-US" altLang="zh-CN" sz="1600" b="1"/>
              <a:t>HTTP / REST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gRPC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WebSocket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JSON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Protobuf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OpenAPI</a:t>
            </a:r>
            <a:r>
              <a:rPr lang="zh-CN" altLang="en-US" sz="1600" b="1">
                <a:ea typeface="宋体" panose="02010600030101010101" pitchFamily="2" charset="-122"/>
              </a:rPr>
              <a:t>、</a:t>
            </a:r>
            <a:r>
              <a:rPr lang="en-US" altLang="zh-CN" sz="1600" b="1"/>
              <a:t>Kubernetes service discovery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调用链路已经从 gRPC 贯通到 C ILU 服务。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05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71500" y="2476500"/>
            <a:ext cx="18097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2476500"/>
            <a:ext cx="57150" cy="14287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609850"/>
            <a:ext cx="15049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Client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2952750"/>
            <a:ext cx="150495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现代调用方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只需发送 gRPC 请求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76500" y="3162300"/>
            <a:ext cx="676275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133725" y="310515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3429000" y="2476500"/>
            <a:ext cx="1809750" cy="1428750"/>
          </a:xfrm>
          <a:prstGeom prst="roundRect">
            <a:avLst>
              <a:gd name="adj" fmla="val 2667"/>
            </a:avLst>
          </a:prstGeom>
          <a:solidFill>
            <a:srgbClr val="DCEBF2"/>
          </a:solidFill>
          <a:ln w="9525">
            <a:solidFill>
              <a:srgbClr val="C9C1B4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29000" y="2476500"/>
            <a:ext cx="57150" cy="14287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00450" y="2609850"/>
            <a:ext cx="15049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Gateway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00450" y="2952750"/>
            <a:ext cx="150495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统一入口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校验方法并分发适配器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0" y="3162300"/>
            <a:ext cx="676275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91225" y="310515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86500" y="2476500"/>
            <a:ext cx="18097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0" y="2476500"/>
            <a:ext cx="57150" cy="1428750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609850"/>
            <a:ext cx="15049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ILU Adapter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57950" y="2952750"/>
            <a:ext cx="150495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 endpoint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 client.exe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3162300"/>
            <a:ext cx="676275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848725" y="310515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9144000" y="2476500"/>
            <a:ext cx="2000250" cy="1428750"/>
          </a:xfrm>
          <a:prstGeom prst="roundRect">
            <a:avLst>
              <a:gd name="adj" fmla="val 2667"/>
            </a:avLst>
          </a:prstGeom>
          <a:solidFill>
            <a:srgbClr val="E1EFE8"/>
          </a:solidFill>
          <a:ln w="9525">
            <a:solidFill>
              <a:srgbClr val="C9C1B4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44000" y="2476500"/>
            <a:ext cx="57150" cy="1428750"/>
          </a:xfrm>
          <a:prstGeom prst="rect">
            <a:avLst/>
          </a:prstGeom>
          <a:solidFill>
            <a:srgbClr val="B8543A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15450" y="2609850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 ILU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15450" y="2952750"/>
            <a:ext cx="169545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server.exe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 Hello! 结果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3524250" y="4476750"/>
            <a:ext cx="4476750" cy="533400"/>
          </a:xfrm>
          <a:prstGeom prst="roundRect">
            <a:avLst>
              <a:gd name="adj" fmla="val 7143"/>
            </a:avLst>
          </a:prstGeom>
          <a:solidFill>
            <a:srgbClr val="EEE7D9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676650" y="462915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57768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Registry 独立记录服务元数据：name / language / protocol / endpoint / methods / status</a:t>
            </a:r>
            <a:endParaRPr sz="127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MULTI-LANGUAGE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多语言互调没有丢：四种语言都进入兼容目录。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09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1847850"/>
            <a:ext cx="1143000" cy="55245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924050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47850" y="1847850"/>
            <a:ext cx="3143250" cy="55245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924050" y="19240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现代注册名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91100" y="1847850"/>
            <a:ext cx="1809750" cy="55245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067300" y="192405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当前状态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00850" y="1847850"/>
            <a:ext cx="3429000" cy="55245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77050" y="192405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2400300"/>
            <a:ext cx="1143000" cy="55245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2476500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47850" y="24003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924050" y="247650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legacy.hello-world.c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91100" y="240030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67300" y="24765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READY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00850" y="2400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77050" y="247650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已可 gRPC 调用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2952750"/>
            <a:ext cx="1143000" cy="55245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028950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847850" y="295275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924050" y="30289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legacy.hello-world.java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991100" y="295275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067300" y="302895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MISSING java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00850" y="295275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877050" y="302895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补运行时后接入适配器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3505200"/>
            <a:ext cx="1143000" cy="55245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3581400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847850" y="35052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924050" y="358140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legacy.hello-world.python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991100" y="350520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067300" y="35814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MISSING python2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00850" y="35052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877050" y="358140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 Python2 环境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04850" y="4057650"/>
            <a:ext cx="1143000" cy="55245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81050" y="4133850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Lisp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847850" y="405765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924050" y="41338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legacy.hello-world.lisp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991100" y="405765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067300" y="413385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MISSING clisp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800850" y="405765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877050" y="413385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 Lisp 运行时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57250" y="504825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现在能做到：识别、登记、发现四种语言的 ILU 服务；真实调用先以 C 版作为基线。</a:t>
            </a:r>
            <a:endParaRPr sz="15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VERIFIED BRIDGE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demo 证明：gRPC 已经能调用 C ILU 服务。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08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1809750"/>
            <a:ext cx="7715250" cy="2524125"/>
          </a:xfrm>
          <a:prstGeom prst="roundRect">
            <a:avLst>
              <a:gd name="adj" fmla="val 1509"/>
            </a:avLst>
          </a:prstGeom>
          <a:solidFill>
            <a:srgbClr val="18232D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1962150"/>
            <a:ext cx="7372350" cy="2238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registry-server: 127.0.0.1:58824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gateway-server:  127.0.0.1:58825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 C hello-world SBH: ilusbh:192.168.136.1...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registered service: legacy.hello-world.c language=c protocol=ilu-sbh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gRPC invoke result: Hello! hello from modern gRPC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905875" y="2000250"/>
            <a:ext cx="2000250" cy="2000250"/>
          </a:xfrm>
          <a:prstGeom prst="roundRect">
            <a:avLst>
              <a:gd name="adj" fmla="val 2857"/>
            </a:avLst>
          </a:prstGeom>
          <a:solidFill>
            <a:srgbClr val="E1EFE8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91625" y="23241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2464"/>
          </a:bodyPr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成功标志</a:t>
            </a:r>
            <a:endParaRPr sz="1650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24950" y="2838450"/>
            <a:ext cx="161925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7135"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Hello! hello from modern gRPC</a:t>
            </a:r>
            <a:endParaRPr sz="18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MODULES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每个模块边界清晰：注册、网关、托管、适配、验证分离。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06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809750"/>
            <a:ext cx="2000250" cy="53340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188595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76550" y="1809750"/>
            <a:ext cx="5334000" cy="53340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952750" y="1885950"/>
            <a:ext cx="51816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10550" y="1809750"/>
            <a:ext cx="2095500" cy="53340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86750" y="1885950"/>
            <a:ext cx="1943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当前状态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343150"/>
            <a:ext cx="2000250" cy="5334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241935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registry-server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76550" y="2343150"/>
            <a:ext cx="533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52750" y="2419350"/>
            <a:ext cx="51816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注册、发现、列表、心跳、下线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23431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2419350"/>
            <a:ext cx="1943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2876550"/>
            <a:ext cx="2000250" cy="5334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52500" y="295275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gateway-server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76550" y="2876550"/>
            <a:ext cx="533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52750" y="2952750"/>
            <a:ext cx="51816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 gRPC 调用入口，按接口分发适配器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10550" y="28765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286750" y="2952750"/>
            <a:ext cx="1943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3409950"/>
            <a:ext cx="2000250" cy="5334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348615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legacy-runner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876550" y="3409950"/>
            <a:ext cx="533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952750" y="3486150"/>
            <a:ext cx="51816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 C 服务并读取 SBHtempfile.tex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10550" y="34099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86750" y="3486150"/>
            <a:ext cx="1943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3943350"/>
            <a:ext cx="2000250" cy="5334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52500" y="401955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ilu-adapter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876550" y="3943350"/>
            <a:ext cx="533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952750" y="4019550"/>
            <a:ext cx="51816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 client.exe 调用服务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210550" y="39433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286750" y="4019550"/>
            <a:ext cx="1943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hello 已实现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4476750"/>
            <a:ext cx="2000250" cy="5334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52500" y="455295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rpc-client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876550" y="4476750"/>
            <a:ext cx="533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952750" y="4552950"/>
            <a:ext cx="51816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演示发现服务并发起现代调用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10550" y="4476750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286750" y="4552950"/>
            <a:ext cx="1943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 MODEL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服务记录保留旧 ILU 信息，也能表达现代 gRPC 服务。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07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676400"/>
            <a:ext cx="1524000" cy="45720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7526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09800" y="1676400"/>
            <a:ext cx="3714750" cy="45720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286000" y="17526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24550" y="1676400"/>
            <a:ext cx="4095750" cy="457200"/>
          </a:xfrm>
          <a:prstGeom prst="rect">
            <a:avLst/>
          </a:prstGeom>
          <a:solidFill>
            <a:srgbClr val="16202A"/>
          </a:solidFill>
          <a:ln w="9525">
            <a:solidFill>
              <a:srgbClr val="D4CDC0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00750" y="17526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133600"/>
            <a:ext cx="1524000" cy="4572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2098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09800" y="2133600"/>
            <a:ext cx="371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286000" y="22098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legacy.hello-world.c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924550" y="213360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00750" y="22098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稳定服务名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2590800"/>
            <a:ext cx="1524000" cy="4572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26670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language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09800" y="2590800"/>
            <a:ext cx="371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286000" y="26670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/ java / python / lisp / modern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24550" y="259080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00750" y="26670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保留多语言身份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3048000"/>
            <a:ext cx="1524000" cy="4572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31242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protocol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209800" y="3048000"/>
            <a:ext cx="371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286000" y="31242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ilu-sbh / ilu-ior / grpc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924550" y="304800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00750" y="31242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</a:t>
            </a:r>
            <a:r>
              <a:rPr lang="zh-CN"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地址和新协议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3505200"/>
            <a:ext cx="1524000" cy="4572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2000" y="35814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endpoint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09800" y="3505200"/>
            <a:ext cx="371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286000" y="35814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ilusbh:...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924550" y="350520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00750" y="35814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真实服务地址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5800" y="3962400"/>
            <a:ext cx="1524000" cy="4572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40386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methods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209800" y="3962400"/>
            <a:ext cx="371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286000" y="40386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hello_world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24550" y="396240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000750" y="40386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可调用方法列表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5800" y="4419600"/>
            <a:ext cx="1524000" cy="457200"/>
          </a:xfrm>
          <a:prstGeom prst="rect">
            <a:avLst/>
          </a:prstGeom>
          <a:solidFill>
            <a:srgbClr val="ECE6DA"/>
          </a:solidFill>
          <a:ln w="9525">
            <a:solidFill>
              <a:srgbClr val="D4CDC0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62000" y="4495800"/>
            <a:ext cx="137160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status</a:t>
            </a:r>
            <a:endParaRPr sz="10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209800" y="4419600"/>
            <a:ext cx="371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286000" y="4495800"/>
            <a:ext cx="3562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HEALTHY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924550" y="441960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DC0"/>
            </a:solidFill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000750" y="4495800"/>
            <a:ext cx="39433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健康状态</a:t>
            </a:r>
            <a:endParaRPr sz="1050" b="0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810500" y="4953000"/>
            <a:ext cx="2857500" cy="1047750"/>
          </a:xfrm>
          <a:prstGeom prst="roundRect">
            <a:avLst>
              <a:gd name="adj" fmla="val 3636"/>
            </a:avLst>
          </a:prstGeom>
          <a:solidFill>
            <a:srgbClr val="E1EFE8"/>
          </a:solidFill>
          <a:ln w="9525">
            <a:solidFill>
              <a:srgbClr val="C9C1B4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810500" y="4953000"/>
            <a:ext cx="57150" cy="10477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981950" y="5086350"/>
            <a:ext cx="25527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981950" y="5429250"/>
            <a:ext cx="25527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现代系统没有抹掉 ILU 的 SBH/IOR，而是把它们纳入服务元数据模型。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SCRIPT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演示时用两个脚本：一个证明调用链路，一个证明多语言目录。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10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1828800"/>
            <a:ext cx="3143250" cy="152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7150" cy="15240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962150"/>
            <a:ext cx="28384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运行桥接 demo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305050"/>
            <a:ext cx="2838450" cy="971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run-modern-bridge-demo.bat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Hello! hello from modern gRPC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00500" y="2571750"/>
            <a:ext cx="819150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800600" y="251460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143500" y="1828800"/>
            <a:ext cx="3429000" cy="1524000"/>
          </a:xfrm>
          <a:prstGeom prst="roundRect">
            <a:avLst>
              <a:gd name="adj" fmla="val 2500"/>
            </a:avLst>
          </a:prstGeom>
          <a:solidFill>
            <a:srgbClr val="DCEBF2"/>
          </a:solidFill>
          <a:ln w="9525">
            <a:solidFill>
              <a:srgbClr val="C9C1B4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143500" y="1828800"/>
            <a:ext cx="57150" cy="1524000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314950" y="1962150"/>
            <a:ext cx="3124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查看兼容目录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14950" y="2305050"/>
            <a:ext cx="3124200" cy="971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show-legacy-catalog.bat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 C ready，其他语言缺运行时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67750" y="2571750"/>
            <a:ext cx="819150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67850" y="251460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715500" y="1828800"/>
            <a:ext cx="1809750" cy="1524000"/>
          </a:xfrm>
          <a:prstGeom prst="roundRect">
            <a:avLst>
              <a:gd name="adj" fmla="val 2500"/>
            </a:avLst>
          </a:prstGeom>
          <a:solidFill>
            <a:srgbClr val="E1EFE8"/>
          </a:solidFill>
          <a:ln w="9525">
            <a:solidFill>
              <a:srgbClr val="C9C1B4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715500" y="1828800"/>
            <a:ext cx="57150" cy="1524000"/>
          </a:xfrm>
          <a:prstGeom prst="rect">
            <a:avLst/>
          </a:prstGeom>
          <a:solidFill>
            <a:srgbClr val="B8543A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886950" y="1962150"/>
            <a:ext cx="15049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解释结论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886950" y="2305050"/>
            <a:ext cx="1504950" cy="971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现代化成功，同时保留旧 ILU 多语言扩展路线。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14400" y="4362450"/>
            <a:ext cx="8858250" cy="1066800"/>
          </a:xfrm>
          <a:prstGeom prst="roundRect">
            <a:avLst>
              <a:gd name="adj" fmla="val 3571"/>
            </a:avLst>
          </a:prstGeom>
          <a:solidFill>
            <a:srgbClr val="18232D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4514850"/>
            <a:ext cx="85153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powershell -NoProfile -ExecutionPolicy Bypass -File .\run-modern-bridge-demo.ps1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powershell -NoProfile -ExecutionPolicy Bypass -File .\show-legacy-catalog.ps1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实现不是停留在设计图，而是通过测试和真实程序验证。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11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52500" y="1952625"/>
            <a:ext cx="2571750" cy="1619250"/>
          </a:xfrm>
          <a:prstGeom prst="roundRect">
            <a:avLst>
              <a:gd name="adj" fmla="val 3529"/>
            </a:avLst>
          </a:prstGeom>
          <a:solidFill>
            <a:srgbClr val="E1EFE8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190750"/>
            <a:ext cx="2238375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7461"/>
          </a:bodyPr>
          <a:lstStyle/>
          <a:p>
            <a:pPr algn="ctr">
              <a:lnSpc>
                <a:spcPct val="115000"/>
              </a:lnSpc>
              <a:buNone/>
              <a:defRPr sz="4350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4350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2952750"/>
            <a:ext cx="2238375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automated tests passed</a:t>
            </a:r>
            <a:endParaRPr sz="13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95750" y="1857375"/>
            <a:ext cx="4095750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095750" y="1857375"/>
            <a:ext cx="57150" cy="18097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267200" y="1990725"/>
            <a:ext cx="37909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覆盖范围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67200" y="2333625"/>
            <a:ext cx="379095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注册中心存储、gRPC 注册服务、网关、客户端输出解析、多语言目录、手动注册。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72500" y="1857375"/>
            <a:ext cx="2286000" cy="1809750"/>
          </a:xfrm>
          <a:prstGeom prst="roundRect">
            <a:avLst>
              <a:gd name="adj" fmla="val 2105"/>
            </a:avLst>
          </a:prstGeom>
          <a:solidFill>
            <a:srgbClr val="DCEBF2"/>
          </a:solidFill>
          <a:ln w="9525">
            <a:solidFill>
              <a:srgbClr val="C9C1B4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72500" y="1857375"/>
            <a:ext cx="57150" cy="1809750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43950" y="1990725"/>
            <a:ext cx="19812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真实验证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43950" y="2333625"/>
            <a:ext cx="198120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启动旧 C server.exe，通过现代 gRPC 返回 ILU 服务结果。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428750" y="4400550"/>
            <a:ext cx="8001000" cy="952500"/>
          </a:xfrm>
          <a:prstGeom prst="roundRect">
            <a:avLst>
              <a:gd name="adj" fmla="val 4000"/>
            </a:avLst>
          </a:prstGeom>
          <a:solidFill>
            <a:srgbClr val="18232D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600200" y="4552950"/>
            <a:ext cx="765810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passed in 0.14s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E8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gRPC invoke result: Hello! hello from modern gRPC</a:t>
            </a:r>
            <a:endParaRPr sz="1125" b="0">
              <a:solidFill>
                <a:srgbClr val="E8F1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57200"/>
            <a:ext cx="304800" cy="3810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429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F56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ROADMAP</a:t>
            </a:r>
            <a:endParaRPr sz="975" b="1">
              <a:solidFill>
                <a:srgbClr val="0F56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781050"/>
            <a:ext cx="91440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后续工作从“可演示桥接”走向“可管理、可扩展、可生产”。</a:t>
            </a:r>
            <a:endParaRPr sz="240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8A8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Modern ILU Bridge  /  12</a:t>
            </a:r>
            <a:endParaRPr sz="750" b="0">
              <a:solidFill>
                <a:srgbClr val="8A8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2000250"/>
            <a:ext cx="2381250" cy="1809750"/>
          </a:xfrm>
          <a:prstGeom prst="roundRect">
            <a:avLst>
              <a:gd name="adj" fmla="val 2105"/>
            </a:avLst>
          </a:prstGeom>
          <a:solidFill>
            <a:srgbClr val="E1EFE8"/>
          </a:solidFill>
          <a:ln w="9525">
            <a:solidFill>
              <a:srgbClr val="C9C1B4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000250"/>
            <a:ext cx="57150" cy="18097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13360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41953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476500"/>
            <a:ext cx="207645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hello-world 真实桥接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gRPC registry + gateway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多语言兼容目录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86125" y="2876550"/>
            <a:ext cx="819150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86225" y="281940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81500" y="2000250"/>
            <a:ext cx="2381250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9C1B4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381500" y="2000250"/>
            <a:ext cx="57150" cy="1809750"/>
          </a:xfrm>
          <a:prstGeom prst="rect">
            <a:avLst/>
          </a:prstGeom>
          <a:solidFill>
            <a:srgbClr val="D49A2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52950" y="213360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2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52950" y="2476500"/>
            <a:ext cx="207645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 Java / Python2 / Lisp 运行时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逐个实现接口适配器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05625" y="2876550"/>
            <a:ext cx="819150" cy="28575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05725" y="2819400"/>
            <a:ext cx="133350" cy="1333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01000" y="2000250"/>
            <a:ext cx="2381250" cy="1809750"/>
          </a:xfrm>
          <a:prstGeom prst="roundRect">
            <a:avLst>
              <a:gd name="adj" fmla="val 2105"/>
            </a:avLst>
          </a:prstGeom>
          <a:solidFill>
            <a:srgbClr val="DCEBF2"/>
          </a:solidFill>
          <a:ln w="9525">
            <a:solidFill>
              <a:srgbClr val="C9C1B4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2000250"/>
            <a:ext cx="57150" cy="1809750"/>
          </a:xfrm>
          <a:prstGeom prst="rect">
            <a:avLst/>
          </a:prstGeom>
          <a:solidFill>
            <a:srgbClr val="B8543A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72450" y="213360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905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3</a:t>
            </a:r>
            <a:endParaRPr sz="1425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72450" y="2476500"/>
            <a:ext cx="207645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管理台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持久化存储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B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健康检查与鉴权</a:t>
            </a:r>
            <a:endParaRPr sz="1125" b="0">
              <a:solidFill>
                <a:srgbClr val="5B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52500" y="4762500"/>
            <a:ext cx="9334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8843"/>
          </a:bodyPr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最终目标：让现代系统以 gRPC 方式使用</a:t>
            </a:r>
            <a:r>
              <a:rPr lang="en-US" sz="16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1">
                <a:solidFill>
                  <a:srgbClr val="16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ILU 服务，同时让系统的多语言资产继续可见、可注册、可迁移。</a:t>
            </a:r>
            <a:endParaRPr sz="1650" b="1">
              <a:solidFill>
                <a:srgbClr val="16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2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3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4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5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6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7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8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9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10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11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ags/tag12.xml><?xml version="1.0" encoding="utf-8"?>
<p:tagLst xmlns:p="http://schemas.openxmlformats.org/presentationml/2006/main">
  <p:tag name="KSO_WM_DIAGRAM_VIRTUALLY_FRAME" val="{&quot;height&quot;:238,&quot;left&quot;:75,&quot;top&quot;:77,&quot;width&quot;:741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3025</Words>
  <Application>WPS 演示</Application>
  <PresentationFormat>Converted Presentation</PresentationFormat>
  <Paragraphs>302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Half Summer</cp:lastModifiedBy>
  <cp:revision>8</cp:revision>
  <dcterms:created xsi:type="dcterms:W3CDTF">2026-06-02T08:05:08Z</dcterms:created>
  <dcterms:modified xsi:type="dcterms:W3CDTF">2026-06-02T10:56:17Z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3E9182EEACF640678C505721F14BE883_12</vt:lpwstr>
  </property>
</Properties>
</file>